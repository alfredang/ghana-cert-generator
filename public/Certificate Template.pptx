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10692000" cx="7560000"/>
  <p:notesSz cx="6858000" cy="9144000"/>
  <p:embeddedFontLst>
    <p:embeddedFont>
      <p:font typeface="Roboto Serif"/>
      <p:regular r:id="rId7"/>
      <p:bold r:id="rId8"/>
      <p:italic r:id="rId9"/>
      <p:boldItalic r:id="rId10"/>
    </p:embeddedFont>
    <p:embeddedFont>
      <p:font typeface="Bebas Neue"/>
      <p:regular r:id="rId11"/>
    </p:embeddedFont>
    <p:embeddedFont>
      <p:font typeface="Quicksand"/>
      <p:regular r:id="rId12"/>
      <p:bold r:id="rId13"/>
    </p:embeddedFont>
    <p:embeddedFont>
      <p:font typeface="Kanit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368">
          <p15:clr>
            <a:srgbClr val="747775"/>
          </p15:clr>
        </p15:guide>
        <p15:guide id="2" pos="238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368" orient="horz"/>
        <p:guide pos="238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BebasNeue-regular.fntdata"/><Relationship Id="rId10" Type="http://schemas.openxmlformats.org/officeDocument/2006/relationships/font" Target="fonts/RobotoSerif-boldItalic.fntdata"/><Relationship Id="rId13" Type="http://schemas.openxmlformats.org/officeDocument/2006/relationships/font" Target="fonts/Quicksand-bold.fntdata"/><Relationship Id="rId12" Type="http://schemas.openxmlformats.org/officeDocument/2006/relationships/font" Target="fonts/Quicksan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Serif-italic.fntdata"/><Relationship Id="rId15" Type="http://schemas.openxmlformats.org/officeDocument/2006/relationships/font" Target="fonts/Kanit-bold.fntdata"/><Relationship Id="rId14" Type="http://schemas.openxmlformats.org/officeDocument/2006/relationships/font" Target="fonts/Kanit-regular.fntdata"/><Relationship Id="rId17" Type="http://schemas.openxmlformats.org/officeDocument/2006/relationships/font" Target="fonts/Kanit-boldItalic.fntdata"/><Relationship Id="rId16" Type="http://schemas.openxmlformats.org/officeDocument/2006/relationships/font" Target="fonts/Kani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obotoSerif-regular.fntdata"/><Relationship Id="rId8" Type="http://schemas.openxmlformats.org/officeDocument/2006/relationships/font" Target="fonts/RobotoSerif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97c7fb724_0_2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97c7fb72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57712" y="1547778"/>
            <a:ext cx="7044600" cy="426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57705" y="5891409"/>
            <a:ext cx="7044600" cy="16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57705" y="4471058"/>
            <a:ext cx="7044600" cy="174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57705" y="2395696"/>
            <a:ext cx="3306900" cy="7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3995291" y="2395696"/>
            <a:ext cx="3306900" cy="7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57705" y="1154948"/>
            <a:ext cx="2321700" cy="157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57705" y="2888617"/>
            <a:ext cx="2321700" cy="6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05325" y="935745"/>
            <a:ext cx="5264700" cy="85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780000" y="-260"/>
            <a:ext cx="3780000" cy="106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19508" y="2563450"/>
            <a:ext cx="3344400" cy="308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19508" y="5826865"/>
            <a:ext cx="3344400" cy="25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083839" y="1505164"/>
            <a:ext cx="3172200" cy="76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57705" y="8794266"/>
            <a:ext cx="4959600" cy="125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57705" y="2299346"/>
            <a:ext cx="7044600" cy="408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57705" y="6552657"/>
            <a:ext cx="7044600" cy="27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91750" y="1535283"/>
            <a:ext cx="53982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375" lIns="115375" spcFirstLastPara="1" rIns="115375" wrap="square" tIns="115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463">
                <a:solidFill>
                  <a:srgbClr val="0B4D88"/>
                </a:solidFill>
                <a:latin typeface="Bebas Neue"/>
                <a:ea typeface="Bebas Neue"/>
                <a:cs typeface="Bebas Neue"/>
                <a:sym typeface="Bebas Neue"/>
              </a:rPr>
              <a:t>CERTIFICATE</a:t>
            </a:r>
            <a:endParaRPr sz="9463">
              <a:solidFill>
                <a:srgbClr val="0B4D88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91750" y="2723442"/>
            <a:ext cx="5190000" cy="7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375" lIns="115375" spcFirstLastPara="1" rIns="115375" wrap="square" tIns="115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85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of  accomplishment</a:t>
            </a:r>
            <a:endParaRPr sz="3985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444650" y="5147625"/>
            <a:ext cx="3627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" name="Google Shape;57;p13"/>
          <p:cNvSpPr txBox="1"/>
          <p:nvPr/>
        </p:nvSpPr>
        <p:spPr>
          <a:xfrm>
            <a:off x="191750" y="4671438"/>
            <a:ext cx="539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[Student Name]</a:t>
            </a:r>
            <a:endParaRPr b="1" sz="230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191750" y="5534100"/>
            <a:ext cx="388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For completing the cours</a:t>
            </a:r>
            <a:r>
              <a:rPr lang="en" sz="1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e</a:t>
            </a:r>
            <a:endParaRPr sz="180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191750" y="5909050"/>
            <a:ext cx="58083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0B4D88"/>
                </a:solidFill>
                <a:latin typeface="Kanit"/>
                <a:ea typeface="Kanit"/>
                <a:cs typeface="Kanit"/>
                <a:sym typeface="Kanit"/>
              </a:rPr>
              <a:t>[Course Name]</a:t>
            </a:r>
            <a:endParaRPr b="1" sz="2500">
              <a:solidFill>
                <a:srgbClr val="0B4D88"/>
              </a:solidFill>
              <a:latin typeface="Kanit"/>
              <a:ea typeface="Kanit"/>
              <a:cs typeface="Kanit"/>
              <a:sym typeface="Kan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0B4D88"/>
              </a:solidFill>
              <a:latin typeface="Kanit"/>
              <a:ea typeface="Kanit"/>
              <a:cs typeface="Kanit"/>
              <a:sym typeface="Kan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Held on</a:t>
            </a:r>
            <a:r>
              <a:rPr b="1" lang="en" sz="15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 </a:t>
            </a:r>
            <a:r>
              <a:rPr b="1" lang="en" sz="1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[Course Dates]</a:t>
            </a:r>
            <a:endParaRPr b="1" sz="180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0B4D88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60" name="Google Shape;6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915" y="8137650"/>
            <a:ext cx="3236874" cy="881322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/>
        </p:nvSpPr>
        <p:spPr>
          <a:xfrm>
            <a:off x="191750" y="8997206"/>
            <a:ext cx="19257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88375" lIns="88375" spcFirstLastPara="1" rIns="88375" wrap="square" tIns="883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Dr. Alfred Ang </a:t>
            </a:r>
            <a:endParaRPr sz="180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62" name="Google Shape;62;p13"/>
          <p:cNvCxnSpPr/>
          <p:nvPr/>
        </p:nvCxnSpPr>
        <p:spPr>
          <a:xfrm>
            <a:off x="244919" y="9412578"/>
            <a:ext cx="2011800" cy="0"/>
          </a:xfrm>
          <a:prstGeom prst="straightConnector1">
            <a:avLst/>
          </a:prstGeom>
          <a:noFill/>
          <a:ln cap="flat" cmpd="sng" w="9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" name="Google Shape;63;p13"/>
          <p:cNvSpPr txBox="1"/>
          <p:nvPr/>
        </p:nvSpPr>
        <p:spPr>
          <a:xfrm>
            <a:off x="191750" y="9434025"/>
            <a:ext cx="39759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88375" lIns="88375" spcFirstLastPara="1" rIns="88375" wrap="square" tIns="88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Managing Director</a:t>
            </a:r>
            <a:endParaRPr sz="1739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191750" y="9710728"/>
            <a:ext cx="50994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88375" lIns="88375" spcFirstLastPara="1" rIns="88375" wrap="square" tIns="88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B4D88"/>
                </a:solidFill>
                <a:latin typeface="Roboto Serif"/>
                <a:ea typeface="Roboto Serif"/>
                <a:cs typeface="Roboto Serif"/>
                <a:sym typeface="Roboto Serif"/>
              </a:rPr>
              <a:t>Tertiary Infotech Academy</a:t>
            </a:r>
            <a:endParaRPr b="1" sz="1733">
              <a:solidFill>
                <a:srgbClr val="0B4D88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65" name="Google Shape;65;p13"/>
          <p:cNvGrpSpPr/>
          <p:nvPr/>
        </p:nvGrpSpPr>
        <p:grpSpPr>
          <a:xfrm>
            <a:off x="5787754" y="8945549"/>
            <a:ext cx="1602967" cy="1604391"/>
            <a:chOff x="5207350" y="9186225"/>
            <a:chExt cx="1688400" cy="1689900"/>
          </a:xfrm>
        </p:grpSpPr>
        <p:sp>
          <p:nvSpPr>
            <p:cNvPr id="66" name="Google Shape;66;p13"/>
            <p:cNvSpPr/>
            <p:nvPr/>
          </p:nvSpPr>
          <p:spPr>
            <a:xfrm>
              <a:off x="5207350" y="9186225"/>
              <a:ext cx="1688400" cy="1689900"/>
            </a:xfrm>
            <a:prstGeom prst="flowChartConnector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86800" lIns="86800" spcFirstLastPara="1" rIns="86800" wrap="square" tIns="86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29"/>
            </a:p>
          </p:txBody>
        </p:sp>
        <p:pic>
          <p:nvPicPr>
            <p:cNvPr id="67" name="Google Shape;67;p13" title="stamp.jpg"/>
            <p:cNvPicPr preferRelativeResize="0"/>
            <p:nvPr/>
          </p:nvPicPr>
          <p:blipFill rotWithShape="1">
            <a:blip r:embed="rId5">
              <a:alphaModFix/>
            </a:blip>
            <a:srcRect b="3582" l="3350" r="3592" t="3601"/>
            <a:stretch/>
          </p:blipFill>
          <p:spPr>
            <a:xfrm>
              <a:off x="5242400" y="9224187"/>
              <a:ext cx="1618301" cy="16139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8" name="Google Shape;68;p13"/>
          <p:cNvSpPr txBox="1"/>
          <p:nvPr/>
        </p:nvSpPr>
        <p:spPr>
          <a:xfrm>
            <a:off x="191750" y="3938175"/>
            <a:ext cx="4965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This Certificate is proudly presented to</a:t>
            </a:r>
            <a:endParaRPr sz="170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pic>
        <p:nvPicPr>
          <p:cNvPr id="69" name="Google Shape;69;p13" title="Infotech Academy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4917" y="317013"/>
            <a:ext cx="3384245" cy="88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3" title="bruh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4875" y="373425"/>
            <a:ext cx="3686750" cy="96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